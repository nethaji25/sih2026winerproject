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301" r:id="rId4"/>
    <p:sldId id="293" r:id="rId5"/>
    <p:sldId id="298" r:id="rId6"/>
    <p:sldId id="299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FFFFFF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53" y="-9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521229766349017"/>
          <c:y val="6.5051836576365721E-2"/>
          <c:w val="0.3672222783644849"/>
          <c:h val="0.58378150823639874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E8B-4F8C-BB9D-3FACC172F64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E8B-4F8C-BB9D-3FACC172F64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E8B-4F8C-BB9D-3FACC172F64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E8B-4F8C-BB9D-3FACC172F64A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5E8B-4F8C-BB9D-3FACC172F64A}"/>
              </c:ext>
            </c:extLst>
          </c:dPt>
          <c:cat>
            <c:strRef>
              <c:f>Sheet1!$A$2:$A$6</c:f>
              <c:strCache>
                <c:ptCount val="5"/>
                <c:pt idx="0">
                  <c:v>Data integration Issues</c:v>
                </c:pt>
                <c:pt idx="1">
                  <c:v>Data Security Risks</c:v>
                </c:pt>
                <c:pt idx="2">
                  <c:v>Connectivity &amp; device Limitations</c:v>
                </c:pt>
                <c:pt idx="3">
                  <c:v>AI Accuracy Issues</c:v>
                </c:pt>
                <c:pt idx="4">
                  <c:v>Department Adoption  Resistance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15</c:v>
                </c:pt>
                <c:pt idx="2">
                  <c:v>15</c:v>
                </c:pt>
                <c:pt idx="3">
                  <c:v>10</c:v>
                </c:pt>
                <c:pt idx="4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E8B-4F8C-BB9D-3FACC172F6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9.8075041633380863E-2"/>
          <c:y val="0.65653789431345888"/>
          <c:w val="0.47219593371016683"/>
          <c:h val="0.2938205218307659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4E7D0-AC01-568D-6787-40C9AEDE9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B411C1AE-4B80-6112-D33F-C23BAD05A7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AEB70B86-844A-9728-5D74-E442D1B6AEC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BC406F34-1360-2D0B-E8D4-7B05E8DAC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95121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856E7-094B-2F8F-8334-F7FC551BC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4F50C810-F552-E16D-6A9F-182FBFADAB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2E7F55E3-5078-CB12-F9EF-520C01C9453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29DAA8F5-4DCF-6E4D-FCDD-4357C45533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9295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13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hyperledger-fabric.readthedocs.io/" TargetMode="External"/><Relationship Id="rId13" Type="http://schemas.openxmlformats.org/officeDocument/2006/relationships/hyperlink" Target="https://www.undp.org/publications/digital-governance-report" TargetMode="External"/><Relationship Id="rId3" Type="http://schemas.openxmlformats.org/officeDocument/2006/relationships/hyperlink" Target="https://dbtbharat.gov.in/" TargetMode="External"/><Relationship Id="rId7" Type="http://schemas.openxmlformats.org/officeDocument/2006/relationships/image" Target="../media/image1.png"/><Relationship Id="rId12" Type="http://schemas.openxmlformats.org/officeDocument/2006/relationships/hyperlink" Target="https://ieeexplore.ieee.org/document/9702481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uidai.gov.in/" TargetMode="External"/><Relationship Id="rId11" Type="http://schemas.openxmlformats.org/officeDocument/2006/relationships/hyperlink" Target="https://www.worldbank.org/en/topic/digitaldevelopment" TargetMode="External"/><Relationship Id="rId5" Type="http://schemas.openxmlformats.org/officeDocument/2006/relationships/hyperlink" Target="https://www.npci.org.in/" TargetMode="External"/><Relationship Id="rId15" Type="http://schemas.openxmlformats.org/officeDocument/2006/relationships/hyperlink" Target="https://www.sciencedirect.com/" TargetMode="External"/><Relationship Id="rId10" Type="http://schemas.openxmlformats.org/officeDocument/2006/relationships/hyperlink" Target="https://www.tensorflow.org/" TargetMode="External"/><Relationship Id="rId4" Type="http://schemas.openxmlformats.org/officeDocument/2006/relationships/hyperlink" Target="https://pfms.nic.in/" TargetMode="External"/><Relationship Id="rId9" Type="http://schemas.openxmlformats.org/officeDocument/2006/relationships/hyperlink" Target="https://fastapi.tiangolo.com/" TargetMode="External"/><Relationship Id="rId14" Type="http://schemas.openxmlformats.org/officeDocument/2006/relationships/hyperlink" Target="https://link.springer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24">
            <a:extLst>
              <a:ext uri="{FF2B5EF4-FFF2-40B4-BE49-F238E27FC236}">
                <a16:creationId xmlns:a16="http://schemas.microsoft.com/office/drawing/2014/main" id="{4546955D-3152-BC7B-3B8A-F19F696CE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26">
            <a:extLst>
              <a:ext uri="{FF2B5EF4-FFF2-40B4-BE49-F238E27FC236}">
                <a16:creationId xmlns:a16="http://schemas.microsoft.com/office/drawing/2014/main" id="{75968EC3-7117-34A6-8E79-E6DB269504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Subtitle 3">
            <a:extLst>
              <a:ext uri="{FF2B5EF4-FFF2-40B4-BE49-F238E27FC236}">
                <a16:creationId xmlns:a16="http://schemas.microsoft.com/office/drawing/2014/main" id="{DF5526AC-7E26-6D42-CE83-6F7B7E423F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itle 7">
            <a:extLst>
              <a:ext uri="{FF2B5EF4-FFF2-40B4-BE49-F238E27FC236}">
                <a16:creationId xmlns:a16="http://schemas.microsoft.com/office/drawing/2014/main" id="{293E4679-8FB3-4549-F60D-9CBBC35D8E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EE708E-8B5A-0215-43C2-6FC6FB9E6DFE}"/>
              </a:ext>
            </a:extLst>
          </p:cNvPr>
          <p:cNvSpPr txBox="1"/>
          <p:nvPr/>
        </p:nvSpPr>
        <p:spPr>
          <a:xfrm>
            <a:off x="331286" y="1665738"/>
            <a:ext cx="6286618" cy="5148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SIH25154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Direct Benefit Transfer (DBT) for PCR &amp; PoA Act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ID- 111557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THE SIX 2025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2" descr="https://www.sih.gov.in/img1/SIH-Logo.png">
            <a:extLst>
              <a:ext uri="{FF2B5EF4-FFF2-40B4-BE49-F238E27FC236}">
                <a16:creationId xmlns:a16="http://schemas.microsoft.com/office/drawing/2014/main" id="{08F4D36C-B0FA-FB0A-21F7-39F7534824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54890" y="1715880"/>
            <a:ext cx="3203509" cy="34262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384526" y="0"/>
            <a:ext cx="8662479" cy="1234885"/>
          </a:xfrm>
        </p:spPr>
        <p:txBody>
          <a:bodyPr/>
          <a:lstStyle/>
          <a:p>
            <a:pPr eaLnBrk="1" hangingPunct="1"/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IDEA TITLE</a:t>
            </a:r>
            <a:endParaRPr lang="en-US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2</a:t>
            </a:fld>
            <a:endParaRPr lang="en-US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@SIH Idea submission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54200" y="259774"/>
            <a:ext cx="152852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SIX 2025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FF8AD3B-D394-C233-C814-396586D3DFC6}"/>
              </a:ext>
            </a:extLst>
          </p:cNvPr>
          <p:cNvSpPr/>
          <p:nvPr/>
        </p:nvSpPr>
        <p:spPr>
          <a:xfrm>
            <a:off x="6091612" y="4230171"/>
            <a:ext cx="6024187" cy="1988068"/>
          </a:xfrm>
          <a:prstGeom prst="roundRect">
            <a:avLst>
              <a:gd name="adj" fmla="val 14382"/>
            </a:avLst>
          </a:prstGeom>
          <a:solidFill>
            <a:srgbClr val="0070C0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D03807-B29B-A9B7-3743-A7009E385033}"/>
              </a:ext>
            </a:extLst>
          </p:cNvPr>
          <p:cNvSpPr txBox="1"/>
          <p:nvPr/>
        </p:nvSpPr>
        <p:spPr>
          <a:xfrm>
            <a:off x="6092933" y="4358011"/>
            <a:ext cx="605319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chemeClr val="bg1"/>
                </a:solidFill>
              </a:rPr>
              <a:t>Automated Case Pipeline </a:t>
            </a:r>
            <a:r>
              <a:rPr lang="en-US" sz="1600" dirty="0">
                <a:solidFill>
                  <a:schemeClr val="bg1"/>
                </a:solidFill>
              </a:rPr>
              <a:t>→ FIR, documents &amp; court orders flow seamlessly across PD, SJD &amp; Courts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chemeClr val="bg1"/>
                </a:solidFill>
              </a:rPr>
              <a:t>AI Verification Engine </a:t>
            </a:r>
            <a:r>
              <a:rPr lang="en-US" sz="1600" dirty="0">
                <a:solidFill>
                  <a:schemeClr val="bg1"/>
                </a:solidFill>
              </a:rPr>
              <a:t>→ Fast identity matching &amp; fraud detection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chemeClr val="bg1"/>
                </a:solidFill>
              </a:rPr>
              <a:t>Automated DBT System </a:t>
            </a:r>
            <a:r>
              <a:rPr lang="en-US" sz="1600" dirty="0">
                <a:solidFill>
                  <a:schemeClr val="bg1"/>
                </a:solidFill>
              </a:rPr>
              <a:t>→ PFMS + NPCI process sanctions &amp; credit victim accounts instantly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chemeClr val="bg1"/>
                </a:solidFill>
              </a:rPr>
              <a:t>SLA &amp; Oversight Monitoring</a:t>
            </a:r>
            <a:r>
              <a:rPr lang="en-US" sz="1600" dirty="0">
                <a:solidFill>
                  <a:schemeClr val="bg1"/>
                </a:solidFill>
              </a:rPr>
              <a:t> → Tracks 60-day charge sheet delays and alerts DA for supervision</a:t>
            </a:r>
            <a:endParaRPr lang="en-US" sz="1600" dirty="0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1210B85-C444-729D-BE81-5A1AEC42F4F6}"/>
              </a:ext>
            </a:extLst>
          </p:cNvPr>
          <p:cNvSpPr/>
          <p:nvPr/>
        </p:nvSpPr>
        <p:spPr>
          <a:xfrm>
            <a:off x="6072290" y="1399152"/>
            <a:ext cx="6043510" cy="2442890"/>
          </a:xfrm>
          <a:prstGeom prst="roundRect">
            <a:avLst>
              <a:gd name="adj" fmla="val 11334"/>
            </a:avLst>
          </a:prstGeom>
          <a:solidFill>
            <a:srgbClr val="0070C0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7F097A-3320-BDC5-70EB-35B6BD785563}"/>
              </a:ext>
            </a:extLst>
          </p:cNvPr>
          <p:cNvSpPr txBox="1"/>
          <p:nvPr/>
        </p:nvSpPr>
        <p:spPr>
          <a:xfrm>
            <a:off x="6137079" y="1486852"/>
            <a:ext cx="59649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bg1"/>
                </a:solidFill>
              </a:rPr>
              <a:t>Auto-Driven Pipeline </a:t>
            </a:r>
            <a:r>
              <a:rPr lang="en-US" sz="1600" dirty="0">
                <a:solidFill>
                  <a:schemeClr val="bg1"/>
                </a:solidFill>
              </a:rPr>
              <a:t>→ FIR, documents &amp; court orders move automatically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bg1"/>
                </a:solidFill>
              </a:rPr>
              <a:t>AI Verification Engine </a:t>
            </a:r>
            <a:r>
              <a:rPr lang="en-US" sz="1600" dirty="0">
                <a:solidFill>
                  <a:schemeClr val="bg1"/>
                </a:solidFill>
              </a:rPr>
              <a:t>→ Fast identity matching, story similarity &amp; fraud detection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bg1"/>
                </a:solidFill>
              </a:rPr>
              <a:t>60-Day SLA Enforcement </a:t>
            </a:r>
            <a:r>
              <a:rPr lang="en-US" sz="1600" dirty="0">
                <a:solidFill>
                  <a:schemeClr val="bg1"/>
                </a:solidFill>
              </a:rPr>
              <a:t>→ Auto-flags delayed charge sheets to Victim &amp; DA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bg1"/>
                </a:solidFill>
              </a:rPr>
              <a:t>Blockchain Transparency </a:t>
            </a:r>
            <a:r>
              <a:rPr lang="en-US" sz="1600" dirty="0">
                <a:solidFill>
                  <a:schemeClr val="bg1"/>
                </a:solidFill>
              </a:rPr>
              <a:t>→ Tamper-proof logging of every case </a:t>
            </a:r>
            <a:endParaRPr lang="en-IN" sz="1600" dirty="0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bg1"/>
                </a:solidFill>
              </a:rPr>
              <a:t>USSD Inclusion Mode </a:t>
            </a:r>
            <a:r>
              <a:rPr lang="en-US" sz="1600" dirty="0">
                <a:solidFill>
                  <a:schemeClr val="bg1"/>
                </a:solidFill>
              </a:rPr>
              <a:t>→ Keypad-phone users get full case status via USSD &amp; SMS</a:t>
            </a:r>
            <a:endParaRPr lang="en-IN" sz="1600" dirty="0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BA7672-0E29-0CE2-E53C-A11BA18A4600}"/>
              </a:ext>
            </a:extLst>
          </p:cNvPr>
          <p:cNvSpPr txBox="1"/>
          <p:nvPr/>
        </p:nvSpPr>
        <p:spPr>
          <a:xfrm>
            <a:off x="6434561" y="3852156"/>
            <a:ext cx="3769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eaLnBrk="0" hangingPunct="0"/>
            <a:r>
              <a:rPr lang="en-US" b="1" u="sng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Core functionality: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9061B1-DE31-59E4-BA34-0084582878A5}"/>
              </a:ext>
            </a:extLst>
          </p:cNvPr>
          <p:cNvSpPr txBox="1"/>
          <p:nvPr/>
        </p:nvSpPr>
        <p:spPr>
          <a:xfrm>
            <a:off x="6323192" y="1019706"/>
            <a:ext cx="3769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u="sng" dirty="0">
                <a:solidFill>
                  <a:srgbClr val="00206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Innovation &amp; Uniqueness: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9C0254-E156-5314-C354-0D24570FE3AE}"/>
              </a:ext>
            </a:extLst>
          </p:cNvPr>
          <p:cNvSpPr txBox="1"/>
          <p:nvPr/>
        </p:nvSpPr>
        <p:spPr>
          <a:xfrm>
            <a:off x="458699" y="2430728"/>
            <a:ext cx="3769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eaLnBrk="0" hangingPunct="0"/>
            <a:r>
              <a:rPr lang="en-US" b="1" u="sng" dirty="0">
                <a:solidFill>
                  <a:srgbClr val="00206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How it works: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A0552E5-A999-B7CF-1312-5BE2DFE86B5E}"/>
              </a:ext>
            </a:extLst>
          </p:cNvPr>
          <p:cNvSpPr/>
          <p:nvPr/>
        </p:nvSpPr>
        <p:spPr>
          <a:xfrm>
            <a:off x="151703" y="2782357"/>
            <a:ext cx="5777212" cy="3435882"/>
          </a:xfrm>
          <a:prstGeom prst="roundRect">
            <a:avLst>
              <a:gd name="adj" fmla="val 8560"/>
            </a:avLst>
          </a:prstGeom>
          <a:solidFill>
            <a:srgbClr val="0070C0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31F7C6-B259-A983-B143-22FF6C3971BD}"/>
              </a:ext>
            </a:extLst>
          </p:cNvPr>
          <p:cNvSpPr txBox="1"/>
          <p:nvPr/>
        </p:nvSpPr>
        <p:spPr>
          <a:xfrm>
            <a:off x="244068" y="2907545"/>
            <a:ext cx="5542168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1)   FIR Filed </a:t>
            </a:r>
            <a:r>
              <a:rPr lang="en-US" sz="1600" dirty="0">
                <a:solidFill>
                  <a:schemeClr val="bg1"/>
                </a:solidFill>
              </a:rPr>
              <a:t>→ PD uploads FIR &amp; documents; Aadhaar auto-creates victim account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2)   Auto-Transfer </a:t>
            </a:r>
            <a:r>
              <a:rPr lang="en-US" sz="1600" dirty="0">
                <a:solidFill>
                  <a:schemeClr val="bg1"/>
                </a:solidFill>
              </a:rPr>
              <a:t>→ Case instantly reaches SJD for verification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3)</a:t>
            </a:r>
            <a:r>
              <a:rPr lang="en-US" sz="1600" dirty="0">
                <a:solidFill>
                  <a:schemeClr val="bg1"/>
                </a:solidFill>
              </a:rPr>
              <a:t>   </a:t>
            </a:r>
            <a:r>
              <a:rPr lang="en-US" sz="1600" b="1" dirty="0">
                <a:solidFill>
                  <a:schemeClr val="bg1"/>
                </a:solidFill>
              </a:rPr>
              <a:t>Victim Login </a:t>
            </a:r>
            <a:r>
              <a:rPr lang="en-US" sz="1600" dirty="0">
                <a:solidFill>
                  <a:schemeClr val="bg1"/>
                </a:solidFill>
              </a:rPr>
              <a:t>→ Aadhaar + OTP + Secret Key unlocks case dashboard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4)   AI Verification </a:t>
            </a:r>
            <a:r>
              <a:rPr lang="en-US" sz="1600" dirty="0">
                <a:solidFill>
                  <a:schemeClr val="bg1"/>
                </a:solidFill>
              </a:rPr>
              <a:t>→ Identity, document checks run instantly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5)   Charge Sheet Update </a:t>
            </a:r>
            <a:r>
              <a:rPr lang="en-US" sz="1600" dirty="0">
                <a:solidFill>
                  <a:schemeClr val="bg1"/>
                </a:solidFill>
              </a:rPr>
              <a:t>→ PD uploads charge sheet; system updates case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6)   60-Day SLA Check </a:t>
            </a:r>
            <a:r>
              <a:rPr lang="en-US" sz="1600" dirty="0">
                <a:solidFill>
                  <a:schemeClr val="bg1"/>
                </a:solidFill>
              </a:rPr>
              <a:t>→ Delay auto-flags Victim &amp; DA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7)   Auto Court Order </a:t>
            </a:r>
            <a:r>
              <a:rPr lang="en-US" sz="1600" dirty="0">
                <a:solidFill>
                  <a:schemeClr val="bg1"/>
                </a:solidFill>
              </a:rPr>
              <a:t>→ System pulls final order from </a:t>
            </a:r>
            <a:r>
              <a:rPr lang="en-US" sz="1600" dirty="0" err="1">
                <a:solidFill>
                  <a:schemeClr val="bg1"/>
                </a:solidFill>
              </a:rPr>
              <a:t>eCourts</a:t>
            </a:r>
            <a:r>
              <a:rPr lang="en-US" sz="1600" dirty="0">
                <a:solidFill>
                  <a:schemeClr val="bg1"/>
                </a:solidFill>
              </a:rPr>
              <a:t> &amp; requests PD acknowledgment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8)   Final DBT</a:t>
            </a:r>
            <a:r>
              <a:rPr lang="en-US" sz="1600" dirty="0">
                <a:solidFill>
                  <a:schemeClr val="bg1"/>
                </a:solidFill>
              </a:rPr>
              <a:t> → SJD approves payment; PFMS + NPCI credit victim account</a:t>
            </a:r>
            <a:endParaRPr lang="en-IN" sz="1600" dirty="0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B0D814D-2322-338C-2787-DD2FCCBCB108}"/>
              </a:ext>
            </a:extLst>
          </p:cNvPr>
          <p:cNvSpPr/>
          <p:nvPr/>
        </p:nvSpPr>
        <p:spPr>
          <a:xfrm>
            <a:off x="150871" y="1405296"/>
            <a:ext cx="5728562" cy="983106"/>
          </a:xfrm>
          <a:prstGeom prst="roundRect">
            <a:avLst>
              <a:gd name="adj" fmla="val 27447"/>
            </a:avLst>
          </a:prstGeom>
          <a:solidFill>
            <a:srgbClr val="0070C0"/>
          </a:solidFill>
          <a:ln>
            <a:solidFill>
              <a:schemeClr val="bg2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3296DA-5FA7-811A-76DA-F6ACB70D0405}"/>
              </a:ext>
            </a:extLst>
          </p:cNvPr>
          <p:cNvSpPr txBox="1"/>
          <p:nvPr/>
        </p:nvSpPr>
        <p:spPr>
          <a:xfrm>
            <a:off x="189162" y="1208884"/>
            <a:ext cx="567964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eaLnBrk="0" hangingPunct="0"/>
            <a:endParaRPr lang="en-US" b="1" u="sng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 defTabSz="914400" eaLnBrk="0" hangingPunct="0">
              <a:buFont typeface="Wingdings" panose="05000000000000000000" pitchFamily="2" charset="2"/>
              <a:buChar char="Ø"/>
            </a:pPr>
            <a:r>
              <a:rPr lang="en-US" altLang="en-US" sz="160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 fraud-proof DBT platform combining </a:t>
            </a:r>
            <a:r>
              <a:rPr lang="en-US" sz="1600" b="1" dirty="0">
                <a:solidFill>
                  <a:schemeClr val="bg1"/>
                </a:solidFill>
              </a:rPr>
              <a:t>fast, transparent, automated justice &amp; relief delivery system</a:t>
            </a:r>
            <a:r>
              <a:rPr lang="en-US" sz="1600" dirty="0">
                <a:solidFill>
                  <a:schemeClr val="bg1"/>
                </a:solidFill>
              </a:rPr>
              <a:t>, empowering victims with </a:t>
            </a:r>
            <a:r>
              <a:rPr lang="en-US" sz="1600" b="1" dirty="0">
                <a:solidFill>
                  <a:schemeClr val="bg1"/>
                </a:solidFill>
              </a:rPr>
              <a:t>real-time visibility </a:t>
            </a:r>
            <a:r>
              <a:rPr lang="en-IN" sz="1600" b="1" dirty="0">
                <a:solidFill>
                  <a:schemeClr val="bg1"/>
                </a:solidFill>
              </a:rPr>
              <a:t>and protected digital rights</a:t>
            </a:r>
            <a:r>
              <a:rPr lang="en-IN" sz="1600" dirty="0">
                <a:solidFill>
                  <a:schemeClr val="bg1"/>
                </a:solidFill>
              </a:rPr>
              <a:t>.</a:t>
            </a:r>
            <a:endParaRPr lang="en-IN" sz="1600" dirty="0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412E44-32BB-D653-46D4-6AD659F5CE81}"/>
              </a:ext>
            </a:extLst>
          </p:cNvPr>
          <p:cNvSpPr txBox="1"/>
          <p:nvPr/>
        </p:nvSpPr>
        <p:spPr>
          <a:xfrm>
            <a:off x="446808" y="1039329"/>
            <a:ext cx="2342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00206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Proposed Solution: </a:t>
            </a:r>
          </a:p>
          <a:p>
            <a:endParaRPr lang="en-IN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204742C-5877-2379-4166-6ECABB2711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287" y="2465624"/>
            <a:ext cx="298730" cy="298730"/>
          </a:xfrm>
          <a:prstGeom prst="rect">
            <a:avLst/>
          </a:prstGeom>
        </p:spPr>
      </p:pic>
      <p:pic>
        <p:nvPicPr>
          <p:cNvPr id="11" name="Picture 10" descr="A computer with a magnifying glass&#10;&#10;AI-generated content may be incorrect.">
            <a:extLst>
              <a:ext uri="{FF2B5EF4-FFF2-40B4-BE49-F238E27FC236}">
                <a16:creationId xmlns:a16="http://schemas.microsoft.com/office/drawing/2014/main" id="{D918C7DB-5EA7-2709-98C9-8CC9828AEA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0407" y="3877827"/>
            <a:ext cx="342949" cy="342949"/>
          </a:xfrm>
          <a:prstGeom prst="rect">
            <a:avLst/>
          </a:prstGeom>
        </p:spPr>
      </p:pic>
      <p:pic>
        <p:nvPicPr>
          <p:cNvPr id="27" name="Picture 8" descr="7+ Thousand Bulb Png Royalty-Free Images, Stock Photos &amp; Pictures |  Shutterstock">
            <a:extLst>
              <a:ext uri="{FF2B5EF4-FFF2-40B4-BE49-F238E27FC236}">
                <a16:creationId xmlns:a16="http://schemas.microsoft.com/office/drawing/2014/main" id="{A775681E-64DD-B027-D6D9-5BB41BD612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48" t="20000" r="7096" b="20000"/>
          <a:stretch>
            <a:fillRect/>
          </a:stretch>
        </p:blipFill>
        <p:spPr bwMode="auto">
          <a:xfrm>
            <a:off x="178538" y="1037621"/>
            <a:ext cx="336341" cy="354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Brain Png Images – Browse 316,569 Stock Photos, Vectors, and Video | Adobe  Stock">
            <a:extLst>
              <a:ext uri="{FF2B5EF4-FFF2-40B4-BE49-F238E27FC236}">
                <a16:creationId xmlns:a16="http://schemas.microsoft.com/office/drawing/2014/main" id="{E37226B3-C666-75C6-3C54-E163C77188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11" t="21905" r="17111" b="20473"/>
          <a:stretch>
            <a:fillRect/>
          </a:stretch>
        </p:blipFill>
        <p:spPr bwMode="auto">
          <a:xfrm>
            <a:off x="6072290" y="1075534"/>
            <a:ext cx="312420" cy="273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3</a:t>
            </a:fld>
            <a:endParaRPr lang="en-US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@SIH Idea submission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CAA6ADB8-4348-8296-D412-310D82684BF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54200" y="259774"/>
            <a:ext cx="152852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SIX 2025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4574148B-4326-CC6C-5D49-839D783AA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125" y="1121760"/>
            <a:ext cx="98547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ta-IN" b="1" u="sng" dirty="0">
                <a:solidFill>
                  <a:schemeClr val="tx2"/>
                </a:solidFill>
                <a:latin typeface="+mj-lt"/>
                <a:ea typeface="Calibri" panose="020F0502020204030204" pitchFamily="34" charset="0"/>
                <a:cs typeface="Arial" pitchFamily="34" charset="0"/>
              </a:rPr>
              <a:t>Technologies</a:t>
            </a:r>
            <a:r>
              <a:rPr lang="en-US" b="1" u="sng" dirty="0">
                <a:solidFill>
                  <a:schemeClr val="tx2"/>
                </a:solidFill>
                <a:latin typeface="+mj-lt"/>
                <a:ea typeface="Calibri" panose="020F0502020204030204" pitchFamily="34" charset="0"/>
                <a:cs typeface="Arial" pitchFamily="34" charset="0"/>
              </a:rPr>
              <a:t> to be used</a:t>
            </a:r>
            <a:r>
              <a:rPr lang="ta-IN" b="1" u="sng" dirty="0">
                <a:solidFill>
                  <a:schemeClr val="tx2"/>
                </a:solidFill>
                <a:latin typeface="+mj-lt"/>
                <a:ea typeface="Calibri" panose="020F0502020204030204" pitchFamily="34" charset="0"/>
                <a:cs typeface="Arial" pitchFamily="34" charset="0"/>
              </a:rPr>
              <a:t>:</a:t>
            </a:r>
            <a:r>
              <a:rPr lang="en-IN" b="1" u="sng" dirty="0">
                <a:solidFill>
                  <a:schemeClr val="tx2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3B004B4-9B94-8758-D776-F0B9851E9857}"/>
              </a:ext>
            </a:extLst>
          </p:cNvPr>
          <p:cNvSpPr/>
          <p:nvPr/>
        </p:nvSpPr>
        <p:spPr>
          <a:xfrm>
            <a:off x="167242" y="1491643"/>
            <a:ext cx="5570632" cy="1896973"/>
          </a:xfrm>
          <a:prstGeom prst="roundRect">
            <a:avLst>
              <a:gd name="adj" fmla="val 13117"/>
            </a:avLst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C71341-7C2A-E5C5-B2C6-B322A3A9A161}"/>
              </a:ext>
            </a:extLst>
          </p:cNvPr>
          <p:cNvSpPr txBox="1"/>
          <p:nvPr/>
        </p:nvSpPr>
        <p:spPr>
          <a:xfrm>
            <a:off x="5889110" y="2255623"/>
            <a:ext cx="1948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1) </a:t>
            </a:r>
            <a:r>
              <a:rPr lang="en-US" sz="1200" b="1" dirty="0"/>
              <a:t>Identify All Actors → Determine who interacts with the system</a:t>
            </a:r>
            <a:endParaRPr lang="en-IN" sz="12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2B5FF0-0001-A283-C184-C8AA5350C285}"/>
              </a:ext>
            </a:extLst>
          </p:cNvPr>
          <p:cNvSpPr txBox="1"/>
          <p:nvPr/>
        </p:nvSpPr>
        <p:spPr>
          <a:xfrm>
            <a:off x="8069905" y="2249478"/>
            <a:ext cx="2138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2) </a:t>
            </a:r>
            <a:r>
              <a:rPr lang="en-US" sz="1200" b="1" dirty="0"/>
              <a:t>Define Core Modules → Break the system into functional blocks</a:t>
            </a:r>
            <a:endParaRPr lang="en-IN" sz="12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09E585-CB83-B6CC-E7D9-DA8370B97D06}"/>
              </a:ext>
            </a:extLst>
          </p:cNvPr>
          <p:cNvSpPr txBox="1"/>
          <p:nvPr/>
        </p:nvSpPr>
        <p:spPr>
          <a:xfrm>
            <a:off x="10046324" y="3478762"/>
            <a:ext cx="1799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3) </a:t>
            </a:r>
            <a:r>
              <a:rPr lang="en-US" sz="1200" b="1" dirty="0"/>
              <a:t>Define Data Flow → Map how data moves between modules</a:t>
            </a:r>
            <a:endParaRPr lang="en-IN" sz="1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605858-4E4B-2397-B365-09CE93C0ED4C}"/>
              </a:ext>
            </a:extLst>
          </p:cNvPr>
          <p:cNvSpPr txBox="1"/>
          <p:nvPr/>
        </p:nvSpPr>
        <p:spPr>
          <a:xfrm>
            <a:off x="7539281" y="3941077"/>
            <a:ext cx="2054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4) </a:t>
            </a:r>
            <a:r>
              <a:rPr lang="en-US" sz="1200" b="1" dirty="0"/>
              <a:t>Technology Stack Selection → Choosing Tools for Performance &amp; Scalability</a:t>
            </a:r>
            <a:endParaRPr lang="en-IN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88EBD6-9B67-A15C-B332-D1587C2B9B19}"/>
              </a:ext>
            </a:extLst>
          </p:cNvPr>
          <p:cNvSpPr txBox="1"/>
          <p:nvPr/>
        </p:nvSpPr>
        <p:spPr>
          <a:xfrm>
            <a:off x="5172200" y="4274780"/>
            <a:ext cx="21115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5) </a:t>
            </a:r>
            <a:r>
              <a:rPr lang="en-US" sz="1200" b="1" dirty="0"/>
              <a:t>Database &amp; Blockchain Design → Ensuring Data Consistency &amp; Transparency</a:t>
            </a:r>
            <a:endParaRPr lang="en-IN" sz="12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FE8AFA8-23C1-5C5A-05A5-1CAC8F2CF974}"/>
              </a:ext>
            </a:extLst>
          </p:cNvPr>
          <p:cNvSpPr txBox="1"/>
          <p:nvPr/>
        </p:nvSpPr>
        <p:spPr>
          <a:xfrm>
            <a:off x="2659331" y="4333194"/>
            <a:ext cx="2128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6) </a:t>
            </a:r>
            <a:r>
              <a:rPr lang="it-IT" sz="1200" b="1" dirty="0"/>
              <a:t>AI Algorithm Design → Implementing Verification Logic</a:t>
            </a:r>
            <a:endParaRPr lang="en-IN" sz="12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095117B-0566-35D6-82D2-5F7A059050B2}"/>
              </a:ext>
            </a:extLst>
          </p:cNvPr>
          <p:cNvSpPr txBox="1"/>
          <p:nvPr/>
        </p:nvSpPr>
        <p:spPr>
          <a:xfrm>
            <a:off x="141514" y="5344653"/>
            <a:ext cx="23282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7) </a:t>
            </a:r>
            <a:r>
              <a:rPr lang="en-IN" sz="1200" b="1" dirty="0"/>
              <a:t>Workflow Automation → Implementing PD → SJD → DA → Court → DBT paths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633E571-F518-D7C5-5C9F-69C2F6229D09}"/>
              </a:ext>
            </a:extLst>
          </p:cNvPr>
          <p:cNvSpPr txBox="1"/>
          <p:nvPr/>
        </p:nvSpPr>
        <p:spPr>
          <a:xfrm>
            <a:off x="3289651" y="5824405"/>
            <a:ext cx="24482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8) Security &amp; Compliance Layer → Protecting Sensitive Victim Data</a:t>
            </a:r>
            <a:endParaRPr lang="en-IN" sz="12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DE622AD-2582-61F9-FB10-7D1E65503862}"/>
              </a:ext>
            </a:extLst>
          </p:cNvPr>
          <p:cNvSpPr txBox="1"/>
          <p:nvPr/>
        </p:nvSpPr>
        <p:spPr>
          <a:xfrm>
            <a:off x="7048903" y="5658159"/>
            <a:ext cx="1963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9) </a:t>
            </a:r>
            <a:r>
              <a:rPr lang="fr-FR" sz="1200" b="1" dirty="0"/>
              <a:t>Multi-</a:t>
            </a:r>
            <a:r>
              <a:rPr lang="fr-FR" sz="1200" b="1" dirty="0" err="1"/>
              <a:t>Device</a:t>
            </a:r>
            <a:r>
              <a:rPr lang="fr-FR" sz="1200" b="1" dirty="0"/>
              <a:t> Support → Desktop + Smartphone + USSD Mode</a:t>
            </a:r>
            <a:endParaRPr lang="en-IN" sz="12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0771534-420A-F3C8-3DB7-252F8B38A24F}"/>
              </a:ext>
            </a:extLst>
          </p:cNvPr>
          <p:cNvSpPr txBox="1"/>
          <p:nvPr/>
        </p:nvSpPr>
        <p:spPr>
          <a:xfrm>
            <a:off x="9708808" y="5686637"/>
            <a:ext cx="22710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10) Testing &amp; Validation → Ensuring Reliability</a:t>
            </a:r>
          </a:p>
        </p:txBody>
      </p: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CCACD9F5-B995-8E6B-2C01-46160ACC88EA}"/>
              </a:ext>
            </a:extLst>
          </p:cNvPr>
          <p:cNvCxnSpPr>
            <a:cxnSpLocks/>
            <a:stCxn id="37" idx="3"/>
            <a:endCxn id="42" idx="1"/>
          </p:cNvCxnSpPr>
          <p:nvPr/>
        </p:nvCxnSpPr>
        <p:spPr>
          <a:xfrm flipV="1">
            <a:off x="6968938" y="1875162"/>
            <a:ext cx="1701443" cy="3519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3" name="Connector: Elbow 17412">
            <a:extLst>
              <a:ext uri="{FF2B5EF4-FFF2-40B4-BE49-F238E27FC236}">
                <a16:creationId xmlns:a16="http://schemas.microsoft.com/office/drawing/2014/main" id="{CA474DAD-EB3E-A629-C690-29C92A8E4D99}"/>
              </a:ext>
            </a:extLst>
          </p:cNvPr>
          <p:cNvCxnSpPr>
            <a:cxnSpLocks/>
            <a:stCxn id="42" idx="3"/>
            <a:endCxn id="49" idx="0"/>
          </p:cNvCxnSpPr>
          <p:nvPr/>
        </p:nvCxnSpPr>
        <p:spPr>
          <a:xfrm>
            <a:off x="9461318" y="1875162"/>
            <a:ext cx="1402859" cy="72341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7" name="Connector: Elbow 17416">
            <a:extLst>
              <a:ext uri="{FF2B5EF4-FFF2-40B4-BE49-F238E27FC236}">
                <a16:creationId xmlns:a16="http://schemas.microsoft.com/office/drawing/2014/main" id="{135F6DEB-4D3F-67BA-617A-38AB6949F5DF}"/>
              </a:ext>
            </a:extLst>
          </p:cNvPr>
          <p:cNvCxnSpPr>
            <a:cxnSpLocks/>
            <a:stCxn id="49" idx="1"/>
            <a:endCxn id="2049" idx="3"/>
          </p:cNvCxnSpPr>
          <p:nvPr/>
        </p:nvCxnSpPr>
        <p:spPr>
          <a:xfrm rot="10800000" flipV="1">
            <a:off x="8899110" y="3065167"/>
            <a:ext cx="1498477" cy="50573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5" name="Connector: Elbow 17424">
            <a:extLst>
              <a:ext uri="{FF2B5EF4-FFF2-40B4-BE49-F238E27FC236}">
                <a16:creationId xmlns:a16="http://schemas.microsoft.com/office/drawing/2014/main" id="{25D8AA5C-1D6F-FAB9-4504-DADB65F1F554}"/>
              </a:ext>
            </a:extLst>
          </p:cNvPr>
          <p:cNvCxnSpPr>
            <a:cxnSpLocks/>
            <a:stCxn id="2061" idx="1"/>
            <a:endCxn id="2065" idx="0"/>
          </p:cNvCxnSpPr>
          <p:nvPr/>
        </p:nvCxnSpPr>
        <p:spPr>
          <a:xfrm rot="10800000" flipV="1">
            <a:off x="1074877" y="3927445"/>
            <a:ext cx="1975198" cy="43615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7" name="Connector: Elbow 17426">
            <a:extLst>
              <a:ext uri="{FF2B5EF4-FFF2-40B4-BE49-F238E27FC236}">
                <a16:creationId xmlns:a16="http://schemas.microsoft.com/office/drawing/2014/main" id="{B7479FB9-5BFA-07FF-F718-C2ADD234537D}"/>
              </a:ext>
            </a:extLst>
          </p:cNvPr>
          <p:cNvCxnSpPr>
            <a:cxnSpLocks/>
            <a:stCxn id="2065" idx="3"/>
            <a:endCxn id="17418" idx="1"/>
          </p:cNvCxnSpPr>
          <p:nvPr/>
        </p:nvCxnSpPr>
        <p:spPr>
          <a:xfrm>
            <a:off x="1549524" y="4838248"/>
            <a:ext cx="2381245" cy="622238"/>
          </a:xfrm>
          <a:prstGeom prst="bentConnector3">
            <a:avLst>
              <a:gd name="adj1" fmla="val 404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9" name="Connector: Elbow 17428">
            <a:extLst>
              <a:ext uri="{FF2B5EF4-FFF2-40B4-BE49-F238E27FC236}">
                <a16:creationId xmlns:a16="http://schemas.microsoft.com/office/drawing/2014/main" id="{7675A29A-BE92-5B9E-681B-061ADE547B32}"/>
              </a:ext>
            </a:extLst>
          </p:cNvPr>
          <p:cNvCxnSpPr>
            <a:cxnSpLocks/>
            <a:stCxn id="17418" idx="3"/>
            <a:endCxn id="17428" idx="1"/>
          </p:cNvCxnSpPr>
          <p:nvPr/>
        </p:nvCxnSpPr>
        <p:spPr>
          <a:xfrm flipV="1">
            <a:off x="4755307" y="5324456"/>
            <a:ext cx="2650521" cy="13603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7" name="Connector: Elbow 17436">
            <a:extLst>
              <a:ext uri="{FF2B5EF4-FFF2-40B4-BE49-F238E27FC236}">
                <a16:creationId xmlns:a16="http://schemas.microsoft.com/office/drawing/2014/main" id="{401DB0A1-5A73-257B-4C25-1309C85C7CE8}"/>
              </a:ext>
            </a:extLst>
          </p:cNvPr>
          <p:cNvCxnSpPr>
            <a:cxnSpLocks/>
            <a:stCxn id="17428" idx="3"/>
            <a:endCxn id="17440" idx="1"/>
          </p:cNvCxnSpPr>
          <p:nvPr/>
        </p:nvCxnSpPr>
        <p:spPr>
          <a:xfrm flipV="1">
            <a:off x="8365625" y="5253044"/>
            <a:ext cx="1657874" cy="7141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2" name="TextBox 17441">
            <a:extLst>
              <a:ext uri="{FF2B5EF4-FFF2-40B4-BE49-F238E27FC236}">
                <a16:creationId xmlns:a16="http://schemas.microsoft.com/office/drawing/2014/main" id="{E2C4B8AF-9811-D162-A37B-49E02F1446C7}"/>
              </a:ext>
            </a:extLst>
          </p:cNvPr>
          <p:cNvSpPr txBox="1"/>
          <p:nvPr/>
        </p:nvSpPr>
        <p:spPr>
          <a:xfrm>
            <a:off x="5903796" y="1136767"/>
            <a:ext cx="2061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rgbClr val="002060"/>
                </a:solidFill>
              </a:rPr>
              <a:t>Process:</a:t>
            </a:r>
          </a:p>
        </p:txBody>
      </p:sp>
      <p:sp>
        <p:nvSpPr>
          <p:cNvPr id="17443" name="AutoShape 6" descr="Ai Icon PNG, Vector, PSD, and Clipart With Transparent Background for Free  Download | Pngtree">
            <a:extLst>
              <a:ext uri="{FF2B5EF4-FFF2-40B4-BE49-F238E27FC236}">
                <a16:creationId xmlns:a16="http://schemas.microsoft.com/office/drawing/2014/main" id="{998DB76F-EE81-4136-7865-69C3D7C434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cxnSp>
        <p:nvCxnSpPr>
          <p:cNvPr id="17455" name="Connector: Elbow 17454">
            <a:extLst>
              <a:ext uri="{FF2B5EF4-FFF2-40B4-BE49-F238E27FC236}">
                <a16:creationId xmlns:a16="http://schemas.microsoft.com/office/drawing/2014/main" id="{8B55CDAD-2941-A98E-E890-507A3C7A54AD}"/>
              </a:ext>
            </a:extLst>
          </p:cNvPr>
          <p:cNvCxnSpPr>
            <a:cxnSpLocks/>
            <a:endCxn id="2061" idx="3"/>
          </p:cNvCxnSpPr>
          <p:nvPr/>
        </p:nvCxnSpPr>
        <p:spPr>
          <a:xfrm rot="10800000" flipV="1">
            <a:off x="3930769" y="3852233"/>
            <a:ext cx="1715652" cy="7521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9" name="Connector: Elbow 17458">
            <a:extLst>
              <a:ext uri="{FF2B5EF4-FFF2-40B4-BE49-F238E27FC236}">
                <a16:creationId xmlns:a16="http://schemas.microsoft.com/office/drawing/2014/main" id="{83BC2099-89C7-D6AD-6F6A-414C1DCF90D5}"/>
              </a:ext>
            </a:extLst>
          </p:cNvPr>
          <p:cNvCxnSpPr>
            <a:cxnSpLocks/>
            <a:stCxn id="2049" idx="1"/>
          </p:cNvCxnSpPr>
          <p:nvPr/>
        </p:nvCxnSpPr>
        <p:spPr>
          <a:xfrm rot="10800000" flipV="1">
            <a:off x="6403467" y="3570897"/>
            <a:ext cx="1715652" cy="28133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9DF2D33-268E-029D-C67C-734342334A1A}"/>
              </a:ext>
            </a:extLst>
          </p:cNvPr>
          <p:cNvSpPr txBox="1"/>
          <p:nvPr/>
        </p:nvSpPr>
        <p:spPr>
          <a:xfrm>
            <a:off x="141514" y="1545105"/>
            <a:ext cx="559636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b="1" dirty="0">
                <a:solidFill>
                  <a:schemeClr val="bg1"/>
                </a:solidFill>
              </a:rPr>
              <a:t>Frontend: </a:t>
            </a:r>
            <a:r>
              <a:rPr lang="en-IN" sz="1600" dirty="0">
                <a:solidFill>
                  <a:schemeClr val="bg1"/>
                </a:solidFill>
              </a:rPr>
              <a:t>React / Next.js / TypeScript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b="1" dirty="0">
                <a:solidFill>
                  <a:schemeClr val="bg1"/>
                </a:solidFill>
              </a:rPr>
              <a:t>Backend : </a:t>
            </a:r>
            <a:r>
              <a:rPr lang="en-IN" sz="1600" dirty="0">
                <a:solidFill>
                  <a:schemeClr val="bg1"/>
                </a:solidFill>
              </a:rPr>
              <a:t>Node.js + Express/ TypeScript / Cron Jobs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b="1" dirty="0">
                <a:solidFill>
                  <a:schemeClr val="bg1"/>
                </a:solidFill>
              </a:rPr>
              <a:t>AI Layer </a:t>
            </a:r>
            <a:r>
              <a:rPr lang="en-IN" sz="1600" dirty="0">
                <a:solidFill>
                  <a:schemeClr val="bg1"/>
                </a:solidFill>
              </a:rPr>
              <a:t>: </a:t>
            </a:r>
            <a:r>
              <a:rPr lang="en-US" sz="1600" dirty="0">
                <a:solidFill>
                  <a:schemeClr val="bg1"/>
                </a:solidFill>
              </a:rPr>
              <a:t>Custom Rule-Based Fraud Detection Engine</a:t>
            </a:r>
            <a:r>
              <a:rPr lang="en-IN" sz="1600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b="1" dirty="0">
                <a:solidFill>
                  <a:schemeClr val="bg1"/>
                </a:solidFill>
              </a:rPr>
              <a:t>Databases</a:t>
            </a:r>
            <a:r>
              <a:rPr lang="en-IN" sz="1600" dirty="0">
                <a:solidFill>
                  <a:schemeClr val="bg1"/>
                </a:solidFill>
              </a:rPr>
              <a:t>: </a:t>
            </a:r>
            <a:r>
              <a:rPr lang="en-IN" sz="1600" dirty="0" err="1">
                <a:solidFill>
                  <a:schemeClr val="bg1"/>
                </a:solidFill>
              </a:rPr>
              <a:t>Supabase</a:t>
            </a:r>
            <a:r>
              <a:rPr lang="en-IN" sz="1600" dirty="0">
                <a:solidFill>
                  <a:schemeClr val="bg1"/>
                </a:solidFill>
              </a:rPr>
              <a:t> / JSON DB (Demo Databases)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b="1" dirty="0">
                <a:solidFill>
                  <a:schemeClr val="bg1"/>
                </a:solidFill>
              </a:rPr>
              <a:t>Financial Simulation 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b="1" dirty="0">
                <a:solidFill>
                  <a:schemeClr val="bg1"/>
                </a:solidFill>
              </a:rPr>
              <a:t>Blockchain Logging: </a:t>
            </a:r>
            <a:r>
              <a:rPr lang="en-IN" sz="1600" dirty="0">
                <a:solidFill>
                  <a:schemeClr val="bg1"/>
                </a:solidFill>
              </a:rPr>
              <a:t>JSON Ledger File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b="1" dirty="0">
                <a:solidFill>
                  <a:schemeClr val="bg1"/>
                </a:solidFill>
              </a:rPr>
              <a:t>USSD Support: </a:t>
            </a:r>
            <a:r>
              <a:rPr lang="en-IN" sz="1600" dirty="0">
                <a:solidFill>
                  <a:schemeClr val="bg1"/>
                </a:solidFill>
              </a:rPr>
              <a:t>USSD Gateway Emulator / SMS Service (Mock)</a:t>
            </a:r>
          </a:p>
        </p:txBody>
      </p:sp>
      <p:pic>
        <p:nvPicPr>
          <p:cNvPr id="11" name="Picture 10" descr="A blue symbol with a hexagon&#10;&#10;AI-generated content may be incorrect.">
            <a:extLst>
              <a:ext uri="{FF2B5EF4-FFF2-40B4-BE49-F238E27FC236}">
                <a16:creationId xmlns:a16="http://schemas.microsoft.com/office/drawing/2014/main" id="{24F54849-41A3-6574-54C5-DF054DF029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42" y="1136766"/>
            <a:ext cx="369333" cy="369333"/>
          </a:xfrm>
          <a:prstGeom prst="rect">
            <a:avLst/>
          </a:prstGeom>
        </p:spPr>
      </p:pic>
      <p:pic>
        <p:nvPicPr>
          <p:cNvPr id="37" name="Picture 36" descr="A tablet with check marks and a green tick&#10;&#10;AI-generated content may be incorrect.">
            <a:extLst>
              <a:ext uri="{FF2B5EF4-FFF2-40B4-BE49-F238E27FC236}">
                <a16:creationId xmlns:a16="http://schemas.microsoft.com/office/drawing/2014/main" id="{0C85DCA8-1BCA-7706-6969-EC5C2ED6EC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550092"/>
            <a:ext cx="720538" cy="720538"/>
          </a:xfrm>
          <a:prstGeom prst="rect">
            <a:avLst/>
          </a:prstGeom>
        </p:spPr>
      </p:pic>
      <p:pic>
        <p:nvPicPr>
          <p:cNvPr id="42" name="Picture 41" descr="A red and black diamond&#10;&#10;AI-generated content may be incorrect.">
            <a:extLst>
              <a:ext uri="{FF2B5EF4-FFF2-40B4-BE49-F238E27FC236}">
                <a16:creationId xmlns:a16="http://schemas.microsoft.com/office/drawing/2014/main" id="{6D791A77-5FF1-6648-1CE1-62259DC25F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0381" y="1479693"/>
            <a:ext cx="790937" cy="790937"/>
          </a:xfrm>
          <a:prstGeom prst="rect">
            <a:avLst/>
          </a:prstGeom>
        </p:spPr>
      </p:pic>
      <p:pic>
        <p:nvPicPr>
          <p:cNvPr id="49" name="Picture 4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2B5F4CC-FF4E-2526-78EA-B52D6EC5B6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7586" y="2598576"/>
            <a:ext cx="933182" cy="933182"/>
          </a:xfrm>
          <a:prstGeom prst="rect">
            <a:avLst/>
          </a:prstGeom>
        </p:spPr>
      </p:pic>
      <p:pic>
        <p:nvPicPr>
          <p:cNvPr id="2049" name="Picture 2048" descr="A blue square with white letters&#10;&#10;AI-generated content may be incorrect.">
            <a:extLst>
              <a:ext uri="{FF2B5EF4-FFF2-40B4-BE49-F238E27FC236}">
                <a16:creationId xmlns:a16="http://schemas.microsoft.com/office/drawing/2014/main" id="{9E7B37A4-399C-5D7B-3695-4BB21BDB422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4650" t="24587" r="24225" b="24784"/>
          <a:stretch>
            <a:fillRect/>
          </a:stretch>
        </p:blipFill>
        <p:spPr>
          <a:xfrm>
            <a:off x="8119119" y="3184693"/>
            <a:ext cx="779990" cy="772407"/>
          </a:xfrm>
          <a:prstGeom prst="rect">
            <a:avLst/>
          </a:prstGeom>
        </p:spPr>
      </p:pic>
      <p:pic>
        <p:nvPicPr>
          <p:cNvPr id="2062" name="Picture 14" descr="Monkedo Supabase Integration">
            <a:extLst>
              <a:ext uri="{FF2B5EF4-FFF2-40B4-BE49-F238E27FC236}">
                <a16:creationId xmlns:a16="http://schemas.microsoft.com/office/drawing/2014/main" id="{B77C8D50-E442-9C25-28F1-759868C5B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8216" y="3352032"/>
            <a:ext cx="1017364" cy="1017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1" name="Picture 2060" descr="Ai Icon PNG, Vector, PSD, and Clipart With Transparent Background for Free  Download | Pngtree">
            <a:extLst>
              <a:ext uri="{FF2B5EF4-FFF2-40B4-BE49-F238E27FC236}">
                <a16:creationId xmlns:a16="http://schemas.microsoft.com/office/drawing/2014/main" id="{3E8F9F7E-EAD2-C172-971E-28515939AA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29" t="9728" r="9355" b="10524"/>
          <a:stretch>
            <a:fillRect/>
          </a:stretch>
        </p:blipFill>
        <p:spPr bwMode="auto">
          <a:xfrm>
            <a:off x="3050075" y="3491289"/>
            <a:ext cx="880694" cy="872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5" name="Picture 16" descr="Automation - Free business icons">
            <a:extLst>
              <a:ext uri="{FF2B5EF4-FFF2-40B4-BE49-F238E27FC236}">
                <a16:creationId xmlns:a16="http://schemas.microsoft.com/office/drawing/2014/main" id="{F4906AAF-232D-93C1-9FE1-0AC4307AC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230" y="4363601"/>
            <a:ext cx="949294" cy="949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8" name="Picture 17417" descr="A yellow and grey shield&#10;&#10;AI-generated content may be incorrect.">
            <a:extLst>
              <a:ext uri="{FF2B5EF4-FFF2-40B4-BE49-F238E27FC236}">
                <a16:creationId xmlns:a16="http://schemas.microsoft.com/office/drawing/2014/main" id="{C3E014E3-4DCE-A8E7-FA2F-CDF2E596691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30769" y="5048217"/>
            <a:ext cx="824538" cy="824538"/>
          </a:xfrm>
          <a:prstGeom prst="rect">
            <a:avLst/>
          </a:prstGeom>
        </p:spPr>
      </p:pic>
      <p:pic>
        <p:nvPicPr>
          <p:cNvPr id="17428" name="Picture 18" descr="Device - Free computer icons">
            <a:extLst>
              <a:ext uri="{FF2B5EF4-FFF2-40B4-BE49-F238E27FC236}">
                <a16:creationId xmlns:a16="http://schemas.microsoft.com/office/drawing/2014/main" id="{3F19D988-E5A2-31AB-90E6-D525882BA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5828" y="4844557"/>
            <a:ext cx="959797" cy="959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40" name="Picture 17439" descr="A pencil and paper with check marks&#10;&#10;AI-generated content may be incorrect.">
            <a:extLst>
              <a:ext uri="{FF2B5EF4-FFF2-40B4-BE49-F238E27FC236}">
                <a16:creationId xmlns:a16="http://schemas.microsoft.com/office/drawing/2014/main" id="{9D6C50DE-5103-3188-2FDC-8978613C802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23499" y="4790023"/>
            <a:ext cx="1038288" cy="9260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6502" y="1104375"/>
            <a:ext cx="236856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b="1" u="sng" dirty="0">
                <a:solidFill>
                  <a:schemeClr val="tx2">
                    <a:lumMod val="75000"/>
                  </a:schemeClr>
                </a:solidFill>
                <a:latin typeface="+mn-lt"/>
                <a:cs typeface="Arial" pitchFamily="34" charset="0"/>
              </a:rPr>
              <a:t>Feasibility of the idea:</a:t>
            </a:r>
          </a:p>
          <a:p>
            <a:pPr marR="0" lvl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1400" b="1" i="0" u="sng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@SIH Idea submission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90B6B4B5-0A7D-DA55-8245-92201CEF16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54200" y="259774"/>
            <a:ext cx="152852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SIX 2025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97F79D6-8C7E-C339-DDF0-9D6BFC40C4C1}"/>
              </a:ext>
            </a:extLst>
          </p:cNvPr>
          <p:cNvSpPr/>
          <p:nvPr/>
        </p:nvSpPr>
        <p:spPr>
          <a:xfrm>
            <a:off x="154199" y="1509620"/>
            <a:ext cx="2740647" cy="4732285"/>
          </a:xfrm>
          <a:prstGeom prst="roundRect">
            <a:avLst>
              <a:gd name="adj" fmla="val 9448"/>
            </a:avLst>
          </a:prstGeom>
          <a:solidFill>
            <a:srgbClr val="0070C0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C77677-5B3D-A365-36F4-B6BBDD40714D}"/>
              </a:ext>
            </a:extLst>
          </p:cNvPr>
          <p:cNvSpPr txBox="1"/>
          <p:nvPr/>
        </p:nvSpPr>
        <p:spPr>
          <a:xfrm>
            <a:off x="3099635" y="1097201"/>
            <a:ext cx="5370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rgbClr val="00206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Potential C</a:t>
            </a:r>
            <a:r>
              <a:rPr lang="ta-IN" b="1" u="sng" dirty="0">
                <a:solidFill>
                  <a:srgbClr val="002060"/>
                </a:solidFill>
                <a:latin typeface="+mj-lt"/>
                <a:ea typeface="Calibri" panose="020F0502020204030204" pitchFamily="34" charset="0"/>
                <a:cs typeface="Arial" pitchFamily="34" charset="0"/>
              </a:rPr>
              <a:t>hallenges:</a:t>
            </a:r>
            <a:endParaRPr lang="en-US" b="1" u="sng" dirty="0">
              <a:solidFill>
                <a:srgbClr val="002060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612034E-7D88-40D6-8619-25F46050F61F}"/>
              </a:ext>
            </a:extLst>
          </p:cNvPr>
          <p:cNvSpPr/>
          <p:nvPr/>
        </p:nvSpPr>
        <p:spPr>
          <a:xfrm>
            <a:off x="3071502" y="1482848"/>
            <a:ext cx="5370654" cy="2250924"/>
          </a:xfrm>
          <a:prstGeom prst="roundRect">
            <a:avLst>
              <a:gd name="adj" fmla="val 10083"/>
            </a:avLst>
          </a:prstGeom>
          <a:solidFill>
            <a:srgbClr val="0070C0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68A760-992E-15C8-1887-A4249BCA25F9}"/>
              </a:ext>
            </a:extLst>
          </p:cNvPr>
          <p:cNvSpPr txBox="1"/>
          <p:nvPr/>
        </p:nvSpPr>
        <p:spPr>
          <a:xfrm>
            <a:off x="3162300" y="1595329"/>
            <a:ext cx="518922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</a:rPr>
              <a:t>Data Integration </a:t>
            </a:r>
            <a:r>
              <a:rPr lang="en-US" sz="1600" dirty="0">
                <a:solidFill>
                  <a:schemeClr val="bg1"/>
                </a:solidFill>
              </a:rPr>
              <a:t>→ Difficulty connecting PD, SJD, </a:t>
            </a:r>
            <a:r>
              <a:rPr lang="en-US" sz="1600" dirty="0" err="1">
                <a:solidFill>
                  <a:schemeClr val="bg1"/>
                </a:solidFill>
              </a:rPr>
              <a:t>eCourts</a:t>
            </a:r>
            <a:r>
              <a:rPr lang="en-US" sz="1600" dirty="0">
                <a:solidFill>
                  <a:schemeClr val="bg1"/>
                </a:solidFill>
              </a:rPr>
              <a:t>, PFMS &amp; NPCI systems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</a:rPr>
              <a:t>Department Adoption </a:t>
            </a:r>
            <a:r>
              <a:rPr lang="en-US" sz="1600" dirty="0">
                <a:solidFill>
                  <a:schemeClr val="bg1"/>
                </a:solidFill>
              </a:rPr>
              <a:t>→ Hesitation from officers to shift from manual workflows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</a:rPr>
              <a:t>Connectivity Barriers </a:t>
            </a:r>
            <a:r>
              <a:rPr lang="en-US" sz="1600" dirty="0">
                <a:solidFill>
                  <a:schemeClr val="bg1"/>
                </a:solidFill>
              </a:rPr>
              <a:t>→ Rural victims may face network issues or lack smartphones</a:t>
            </a:r>
            <a:endParaRPr lang="en-IN" sz="16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</a:rPr>
              <a:t>AI Accuracy </a:t>
            </a:r>
            <a:r>
              <a:rPr lang="en-US" sz="1600" dirty="0">
                <a:solidFill>
                  <a:schemeClr val="bg1"/>
                </a:solidFill>
              </a:rPr>
              <a:t>→ Risk of false positives/negatives in verification &amp; similarity checks.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408520-AD2F-67A4-E425-C77BB1B2317B}"/>
              </a:ext>
            </a:extLst>
          </p:cNvPr>
          <p:cNvSpPr txBox="1"/>
          <p:nvPr/>
        </p:nvSpPr>
        <p:spPr>
          <a:xfrm>
            <a:off x="133117" y="1625250"/>
            <a:ext cx="2610083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b="1" dirty="0">
                <a:solidFill>
                  <a:schemeClr val="bg1">
                    <a:lumMod val="95000"/>
                  </a:schemeClr>
                </a:solidFill>
              </a:rPr>
              <a:t>Technical</a:t>
            </a:r>
            <a:r>
              <a:rPr lang="en-IN" sz="1600" b="1" dirty="0">
                <a:solidFill>
                  <a:schemeClr val="bg1"/>
                </a:solidFill>
              </a:rPr>
              <a:t>: </a:t>
            </a:r>
            <a:r>
              <a:rPr lang="en-IN" sz="1600" dirty="0">
                <a:solidFill>
                  <a:schemeClr val="bg1"/>
                </a:solidFill>
              </a:rPr>
              <a:t>Easily integrable with Aadhaar, PFMS, NPCI &amp; </a:t>
            </a:r>
            <a:r>
              <a:rPr lang="en-IN" sz="1600" dirty="0" err="1">
                <a:solidFill>
                  <a:schemeClr val="bg1"/>
                </a:solidFill>
              </a:rPr>
              <a:t>eCourts</a:t>
            </a:r>
            <a:endParaRPr lang="en-IN" sz="16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b="1" dirty="0">
                <a:solidFill>
                  <a:schemeClr val="bg1"/>
                </a:solidFill>
              </a:rPr>
              <a:t>Operational:</a:t>
            </a:r>
            <a:r>
              <a:rPr lang="en-IN" sz="1600" dirty="0">
                <a:solidFill>
                  <a:schemeClr val="bg1"/>
                </a:solidFill>
              </a:rPr>
              <a:t> </a:t>
            </a:r>
            <a:r>
              <a:rPr lang="en-US" sz="1600" dirty="0">
                <a:solidFill>
                  <a:schemeClr val="bg1"/>
                </a:solidFill>
              </a:rPr>
              <a:t>Simplifies workflows for PD, SJD, DA &amp; Victims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b="1" dirty="0">
                <a:solidFill>
                  <a:schemeClr val="bg1"/>
                </a:solidFill>
              </a:rPr>
              <a:t>Economic:</a:t>
            </a:r>
            <a:r>
              <a:rPr lang="en-IN" sz="1600" dirty="0">
                <a:solidFill>
                  <a:schemeClr val="bg1"/>
                </a:solidFill>
              </a:rPr>
              <a:t> </a:t>
            </a:r>
            <a:r>
              <a:rPr lang="en-US" sz="1600" dirty="0">
                <a:solidFill>
                  <a:schemeClr val="bg1"/>
                </a:solidFill>
              </a:rPr>
              <a:t>Low-cost deployment using open-source tools &amp; mock engines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b="1" dirty="0">
                <a:solidFill>
                  <a:schemeClr val="bg1"/>
                </a:solidFill>
              </a:rPr>
              <a:t>Scalability: </a:t>
            </a:r>
            <a:r>
              <a:rPr lang="en-US" sz="1600" dirty="0">
                <a:solidFill>
                  <a:schemeClr val="bg1"/>
                </a:solidFill>
              </a:rPr>
              <a:t>Expandable across districts &amp; states with minimal modification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b="1" dirty="0">
                <a:solidFill>
                  <a:schemeClr val="bg1"/>
                </a:solidFill>
              </a:rPr>
              <a:t>Legal &amp; Compliance: </a:t>
            </a:r>
            <a:r>
              <a:rPr lang="en-US" sz="1600" dirty="0">
                <a:solidFill>
                  <a:schemeClr val="bg1"/>
                </a:solidFill>
              </a:rPr>
              <a:t>Aligns with FIR norms, DBT rules &amp; 60-day charge sheet mandate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1C632C0-E09C-2C84-FB6A-466016E62D62}"/>
              </a:ext>
            </a:extLst>
          </p:cNvPr>
          <p:cNvSpPr/>
          <p:nvPr/>
        </p:nvSpPr>
        <p:spPr>
          <a:xfrm>
            <a:off x="3071502" y="4122219"/>
            <a:ext cx="5370654" cy="2134609"/>
          </a:xfrm>
          <a:prstGeom prst="roundRect">
            <a:avLst>
              <a:gd name="adj" fmla="val 13350"/>
            </a:avLst>
          </a:prstGeom>
          <a:solidFill>
            <a:srgbClr val="0070C0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82E5C1-8FCF-FEC2-238D-9617286CEED9}"/>
              </a:ext>
            </a:extLst>
          </p:cNvPr>
          <p:cNvSpPr txBox="1"/>
          <p:nvPr/>
        </p:nvSpPr>
        <p:spPr>
          <a:xfrm>
            <a:off x="3162300" y="4201818"/>
            <a:ext cx="527985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chemeClr val="bg1"/>
                </a:solidFill>
              </a:rPr>
              <a:t>Standardized APIs </a:t>
            </a:r>
            <a:r>
              <a:rPr lang="en-US" sz="1600" dirty="0">
                <a:solidFill>
                  <a:schemeClr val="bg1"/>
                </a:solidFill>
              </a:rPr>
              <a:t>→ Modular endpoints ensure smooth integration across departments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chemeClr val="bg1"/>
                </a:solidFill>
              </a:rPr>
              <a:t>Officer Training </a:t>
            </a:r>
            <a:r>
              <a:rPr lang="en-US" sz="1600" dirty="0">
                <a:solidFill>
                  <a:schemeClr val="bg1"/>
                </a:solidFill>
              </a:rPr>
              <a:t>→ Simple dashboards and onboarding reduce resistance</a:t>
            </a:r>
            <a:endParaRPr lang="en-IN" sz="16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chemeClr val="bg1"/>
                </a:solidFill>
              </a:rPr>
              <a:t>USSD + SMS Mode </a:t>
            </a:r>
            <a:r>
              <a:rPr lang="en-US" sz="1600" dirty="0">
                <a:solidFill>
                  <a:schemeClr val="bg1"/>
                </a:solidFill>
              </a:rPr>
              <a:t>→ Ensures universal access even with basic phones or low connectivity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chemeClr val="bg1"/>
                </a:solidFill>
              </a:rPr>
              <a:t>Human + AI Hybrid Review </a:t>
            </a:r>
            <a:r>
              <a:rPr lang="en-US" sz="1600" dirty="0">
                <a:solidFill>
                  <a:schemeClr val="bg1"/>
                </a:solidFill>
              </a:rPr>
              <a:t>→ Officers validate AI results to prevent verification errors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C654D5-824E-B037-A7F4-7C64624DC540}"/>
              </a:ext>
            </a:extLst>
          </p:cNvPr>
          <p:cNvSpPr txBox="1"/>
          <p:nvPr/>
        </p:nvSpPr>
        <p:spPr>
          <a:xfrm>
            <a:off x="3162300" y="3742625"/>
            <a:ext cx="4779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00206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Strategies for overcoming these challenges:</a:t>
            </a:r>
          </a:p>
          <a:p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4D62B0-3A61-552C-0765-9F33E5115D68}"/>
              </a:ext>
            </a:extLst>
          </p:cNvPr>
          <p:cNvSpPr txBox="1"/>
          <p:nvPr/>
        </p:nvSpPr>
        <p:spPr>
          <a:xfrm>
            <a:off x="8618811" y="1140288"/>
            <a:ext cx="5370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rgbClr val="00206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Potential C</a:t>
            </a:r>
            <a:r>
              <a:rPr lang="ta-IN" b="1" u="sng" dirty="0">
                <a:solidFill>
                  <a:srgbClr val="002060"/>
                </a:solidFill>
                <a:latin typeface="+mj-lt"/>
                <a:ea typeface="Calibri" panose="020F0502020204030204" pitchFamily="34" charset="0"/>
                <a:cs typeface="Arial" pitchFamily="34" charset="0"/>
              </a:rPr>
              <a:t>hallenges:</a:t>
            </a:r>
            <a:endParaRPr lang="en-US" b="1" u="sng" dirty="0">
              <a:solidFill>
                <a:srgbClr val="002060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9" name="Content Placeholder 11">
            <a:extLst>
              <a:ext uri="{FF2B5EF4-FFF2-40B4-BE49-F238E27FC236}">
                <a16:creationId xmlns:a16="http://schemas.microsoft.com/office/drawing/2014/main" id="{54A284CA-6B42-DB4F-E90F-1028CBD91C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7714370"/>
              </p:ext>
            </p:extLst>
          </p:nvPr>
        </p:nvGraphicFramePr>
        <p:xfrm>
          <a:off x="7193609" y="1239675"/>
          <a:ext cx="8134098" cy="51166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2D065-778F-0298-55BB-DC2FA8404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AE60603-941A-5649-EEC4-2471C222C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1D7BB9BF-2B42-DA66-0B20-6064D3D1B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782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IMPACT AND BENEFITS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D5B22AD0-3CD1-C569-8AE3-461B30697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468" y="1049950"/>
            <a:ext cx="61453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002060"/>
                </a:solidFill>
                <a:latin typeface="+mj-lt"/>
                <a:cs typeface="Arial" panose="020B0604020202020204" pitchFamily="34" charset="0"/>
              </a:rPr>
              <a:t>Impact on the target audience: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26023-1197-F9E9-1BEE-B08C3DC1D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EC7DB21-E42A-6D50-544C-53BD6CC93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@SIH Idea submission</a:t>
            </a:r>
          </a:p>
        </p:txBody>
      </p:sp>
      <p:pic>
        <p:nvPicPr>
          <p:cNvPr id="9" name="Picture 2" descr="https://www.sih.gov.in/img1/SIH-Logo.png">
            <a:extLst>
              <a:ext uri="{FF2B5EF4-FFF2-40B4-BE49-F238E27FC236}">
                <a16:creationId xmlns:a16="http://schemas.microsoft.com/office/drawing/2014/main" id="{74E9CA5C-92D1-DC95-EA16-D96688533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146C0F1E-4B5B-08B6-DBDE-8BA1AF87CF6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54200" y="259774"/>
            <a:ext cx="152852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SIX 2025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176DBE4F-9F93-A2B8-28A4-6469A69FE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439" y="3615463"/>
            <a:ext cx="55436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002060"/>
                </a:solidFill>
                <a:latin typeface="+mj-lt"/>
                <a:cs typeface="Arial" pitchFamily="34" charset="0"/>
              </a:rPr>
              <a:t>Benefits: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12C64E9-114A-9F50-E658-ED48E49582FF}"/>
              </a:ext>
            </a:extLst>
          </p:cNvPr>
          <p:cNvSpPr/>
          <p:nvPr/>
        </p:nvSpPr>
        <p:spPr>
          <a:xfrm>
            <a:off x="191004" y="1433254"/>
            <a:ext cx="4223660" cy="4817864"/>
          </a:xfrm>
          <a:prstGeom prst="roundRect">
            <a:avLst>
              <a:gd name="adj" fmla="val 5332"/>
            </a:avLst>
          </a:prstGeom>
          <a:solidFill>
            <a:srgbClr val="0070C0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C3FC8B-E6D3-7325-9D11-E6A334E8348A}"/>
              </a:ext>
            </a:extLst>
          </p:cNvPr>
          <p:cNvSpPr txBox="1"/>
          <p:nvPr/>
        </p:nvSpPr>
        <p:spPr>
          <a:xfrm>
            <a:off x="224811" y="1494229"/>
            <a:ext cx="421978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For Beneficiaries (Victims) 🗽: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Faster compensation, real-time case tracking &amp; accessible USSD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b="1" dirty="0">
              <a:solidFill>
                <a:schemeClr val="bg1"/>
              </a:solidFill>
            </a:endParaRPr>
          </a:p>
          <a:p>
            <a:r>
              <a:rPr lang="en-IN" sz="1600" b="1" dirty="0">
                <a:solidFill>
                  <a:schemeClr val="bg1"/>
                </a:solidFill>
              </a:rPr>
              <a:t>For Police Department⚖️: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Clear deadlines, improved accountability &amp; streamlined document 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r>
              <a:rPr lang="en-IN" sz="1600" b="1" dirty="0">
                <a:solidFill>
                  <a:schemeClr val="bg1"/>
                </a:solidFill>
              </a:rPr>
              <a:t>For SJD Officers👮🏾: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Faster verification, automated decisions &amp; reduced manual workload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bg1"/>
              </a:solidFill>
            </a:endParaRPr>
          </a:p>
          <a:p>
            <a:r>
              <a:rPr lang="en-US" sz="1600" b="1" dirty="0">
                <a:solidFill>
                  <a:schemeClr val="bg1"/>
                </a:solidFill>
              </a:rPr>
              <a:t>For </a:t>
            </a:r>
            <a:r>
              <a:rPr lang="en-IN" sz="1600" b="1" dirty="0">
                <a:solidFill>
                  <a:schemeClr val="bg1"/>
                </a:solidFill>
              </a:rPr>
              <a:t>District Authority👩🏻‍💼: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Instant SLA alerts &amp; full visibility into PD/SJD 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bg1"/>
              </a:solidFill>
            </a:endParaRPr>
          </a:p>
          <a:p>
            <a:r>
              <a:rPr lang="en-US" sz="1600" b="1" dirty="0">
                <a:solidFill>
                  <a:schemeClr val="bg1"/>
                </a:solidFill>
              </a:rPr>
              <a:t>For </a:t>
            </a:r>
            <a:r>
              <a:rPr lang="en-IN" sz="1600" b="1" dirty="0">
                <a:solidFill>
                  <a:schemeClr val="bg1"/>
                </a:solidFill>
              </a:rPr>
              <a:t>Financial Systems ⚙️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Error-free, fast DBT execution with audit-ready records</a:t>
            </a:r>
            <a:endParaRPr lang="en-US" sz="1600" b="1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AC6F094-6CAA-3EE6-0D63-5584AA6AF417}"/>
              </a:ext>
            </a:extLst>
          </p:cNvPr>
          <p:cNvSpPr/>
          <p:nvPr/>
        </p:nvSpPr>
        <p:spPr>
          <a:xfrm>
            <a:off x="4927498" y="1822446"/>
            <a:ext cx="6664959" cy="4049868"/>
          </a:xfrm>
          <a:prstGeom prst="roundRect">
            <a:avLst>
              <a:gd name="adj" fmla="val 6067"/>
            </a:avLst>
          </a:prstGeom>
          <a:solidFill>
            <a:srgbClr val="0070C0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5EA5333-B2F3-CCF0-823D-F1A1756C3205}"/>
              </a:ext>
            </a:extLst>
          </p:cNvPr>
          <p:cNvSpPr/>
          <p:nvPr/>
        </p:nvSpPr>
        <p:spPr>
          <a:xfrm>
            <a:off x="4652996" y="1591718"/>
            <a:ext cx="3188211" cy="1933203"/>
          </a:xfrm>
          <a:prstGeom prst="round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3BF3020-ACCD-A201-F698-C56B6F54CEA5}"/>
              </a:ext>
            </a:extLst>
          </p:cNvPr>
          <p:cNvSpPr/>
          <p:nvPr/>
        </p:nvSpPr>
        <p:spPr>
          <a:xfrm>
            <a:off x="8686879" y="1591718"/>
            <a:ext cx="3188211" cy="1917352"/>
          </a:xfrm>
          <a:prstGeom prst="round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2ACF4F1-7714-E607-9C79-61A1BE757970}"/>
              </a:ext>
            </a:extLst>
          </p:cNvPr>
          <p:cNvSpPr/>
          <p:nvPr/>
        </p:nvSpPr>
        <p:spPr>
          <a:xfrm>
            <a:off x="4644873" y="4145454"/>
            <a:ext cx="3184483" cy="1940125"/>
          </a:xfrm>
          <a:prstGeom prst="round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3E6D298-AD21-D38E-A5C0-69ABD1C38A8E}"/>
              </a:ext>
            </a:extLst>
          </p:cNvPr>
          <p:cNvSpPr/>
          <p:nvPr/>
        </p:nvSpPr>
        <p:spPr>
          <a:xfrm>
            <a:off x="8721241" y="4148031"/>
            <a:ext cx="3155220" cy="1937548"/>
          </a:xfrm>
          <a:prstGeom prst="round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C27515-6677-34FC-93EE-E05053F7D04B}"/>
              </a:ext>
            </a:extLst>
          </p:cNvPr>
          <p:cNvSpPr txBox="1"/>
          <p:nvPr/>
        </p:nvSpPr>
        <p:spPr>
          <a:xfrm>
            <a:off x="4779718" y="1681523"/>
            <a:ext cx="3188211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Social Benefits: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Faster support &amp; clear case visibility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Works for rural &amp; non-smartphone users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Transparency removes middlemen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057C34-82BA-E840-F919-4CE6BEA59CC6}"/>
              </a:ext>
            </a:extLst>
          </p:cNvPr>
          <p:cNvSpPr txBox="1"/>
          <p:nvPr/>
        </p:nvSpPr>
        <p:spPr>
          <a:xfrm>
            <a:off x="8786305" y="1659392"/>
            <a:ext cx="309015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Economic Benefits: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Reduced fraud → significant cost savings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Efficient use of government funds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Lower admin workload → improved productivity</a:t>
            </a:r>
          </a:p>
          <a:p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F93E43-91FA-EA02-B040-906BD7430F86}"/>
              </a:ext>
            </a:extLst>
          </p:cNvPr>
          <p:cNvSpPr txBox="1"/>
          <p:nvPr/>
        </p:nvSpPr>
        <p:spPr>
          <a:xfrm>
            <a:off x="4734612" y="4253978"/>
            <a:ext cx="289338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Environmental Benefits:</a:t>
            </a:r>
            <a:endParaRPr lang="en-IN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Digital documentation reduces paper use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Cloud + blockchain = minimal physical storage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lowers travel &amp; carbon footprint</a:t>
            </a:r>
          </a:p>
          <a:p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3425CB-759E-9DA3-5F23-D79FEBA6B343}"/>
              </a:ext>
            </a:extLst>
          </p:cNvPr>
          <p:cNvSpPr txBox="1"/>
          <p:nvPr/>
        </p:nvSpPr>
        <p:spPr>
          <a:xfrm>
            <a:off x="8860515" y="4308107"/>
            <a:ext cx="29674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Governance Benefits: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60-day SLA enforcement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Blockchain provides an immutable audit trail for all events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PD, SJD &amp; Courts work in sync</a:t>
            </a:r>
            <a:endParaRPr lang="en-IN" dirty="0"/>
          </a:p>
        </p:txBody>
      </p:sp>
      <p:pic>
        <p:nvPicPr>
          <p:cNvPr id="8" name="Picture 7" descr="A gavel with a yellow stripe&#10;&#10;AI-generated content may be incorrect.">
            <a:extLst>
              <a:ext uri="{FF2B5EF4-FFF2-40B4-BE49-F238E27FC236}">
                <a16:creationId xmlns:a16="http://schemas.microsoft.com/office/drawing/2014/main" id="{8A5BE971-ED67-508E-13DE-0E2A9DE676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056" y="1101772"/>
            <a:ext cx="265688" cy="265688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BF657B1-A5C1-5FFE-5D19-092581D13622}"/>
              </a:ext>
            </a:extLst>
          </p:cNvPr>
          <p:cNvSpPr/>
          <p:nvPr/>
        </p:nvSpPr>
        <p:spPr>
          <a:xfrm>
            <a:off x="7627993" y="3545085"/>
            <a:ext cx="1291521" cy="560530"/>
          </a:xfrm>
          <a:prstGeom prst="roundRect">
            <a:avLst>
              <a:gd name="adj" fmla="val 2573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3EB9A2-7878-D89B-B4C1-DE535882B5E4}"/>
              </a:ext>
            </a:extLst>
          </p:cNvPr>
          <p:cNvSpPr txBox="1"/>
          <p:nvPr/>
        </p:nvSpPr>
        <p:spPr>
          <a:xfrm>
            <a:off x="7785768" y="3643257"/>
            <a:ext cx="1568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Benefits</a:t>
            </a:r>
            <a:endParaRPr lang="en-IN" b="1" dirty="0"/>
          </a:p>
        </p:txBody>
      </p:sp>
      <p:sp>
        <p:nvSpPr>
          <p:cNvPr id="26" name="Arrow: Bent-Up 25">
            <a:extLst>
              <a:ext uri="{FF2B5EF4-FFF2-40B4-BE49-F238E27FC236}">
                <a16:creationId xmlns:a16="http://schemas.microsoft.com/office/drawing/2014/main" id="{16EBFC0F-E7C5-6AA8-4DC8-87BD7A8A3414}"/>
              </a:ext>
            </a:extLst>
          </p:cNvPr>
          <p:cNvSpPr/>
          <p:nvPr/>
        </p:nvSpPr>
        <p:spPr>
          <a:xfrm rot="5400000" flipH="1">
            <a:off x="7822604" y="2687204"/>
            <a:ext cx="1157377" cy="571170"/>
          </a:xfrm>
          <a:prstGeom prst="bentUpArrow">
            <a:avLst>
              <a:gd name="adj1" fmla="val 25119"/>
              <a:gd name="adj2" fmla="val 34031"/>
              <a:gd name="adj3" fmla="val 27773"/>
            </a:avLst>
          </a:prstGeom>
          <a:solidFill>
            <a:schemeClr val="tx1">
              <a:lumMod val="95000"/>
              <a:lumOff val="5000"/>
            </a:schemeClr>
          </a:solidFill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Arrow: Bent-Up 22">
            <a:extLst>
              <a:ext uri="{FF2B5EF4-FFF2-40B4-BE49-F238E27FC236}">
                <a16:creationId xmlns:a16="http://schemas.microsoft.com/office/drawing/2014/main" id="{81B0E26A-D8B5-A564-D943-A3BC24769AC3}"/>
              </a:ext>
            </a:extLst>
          </p:cNvPr>
          <p:cNvSpPr/>
          <p:nvPr/>
        </p:nvSpPr>
        <p:spPr>
          <a:xfrm rot="16200000" flipH="1">
            <a:off x="7537019" y="4398719"/>
            <a:ext cx="1157377" cy="571170"/>
          </a:xfrm>
          <a:prstGeom prst="bentUpArrow">
            <a:avLst>
              <a:gd name="adj1" fmla="val 25119"/>
              <a:gd name="adj2" fmla="val 34031"/>
              <a:gd name="adj3" fmla="val 27773"/>
            </a:avLst>
          </a:prstGeom>
          <a:solidFill>
            <a:schemeClr val="tx1">
              <a:lumMod val="95000"/>
              <a:lumOff val="5000"/>
            </a:schemeClr>
          </a:solidFill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Arrow: Bent-Up 27">
            <a:extLst>
              <a:ext uri="{FF2B5EF4-FFF2-40B4-BE49-F238E27FC236}">
                <a16:creationId xmlns:a16="http://schemas.microsoft.com/office/drawing/2014/main" id="{564D7779-8232-7EDD-D771-9FEEEDBC1930}"/>
              </a:ext>
            </a:extLst>
          </p:cNvPr>
          <p:cNvSpPr/>
          <p:nvPr/>
        </p:nvSpPr>
        <p:spPr>
          <a:xfrm flipH="1">
            <a:off x="6597038" y="3532520"/>
            <a:ext cx="1024955" cy="457784"/>
          </a:xfrm>
          <a:prstGeom prst="bentUpArrow">
            <a:avLst>
              <a:gd name="adj1" fmla="val 32253"/>
              <a:gd name="adj2" fmla="val 40273"/>
              <a:gd name="adj3" fmla="val 34907"/>
            </a:avLst>
          </a:prstGeom>
          <a:solidFill>
            <a:schemeClr val="tx1">
              <a:lumMod val="95000"/>
              <a:lumOff val="5000"/>
            </a:schemeClr>
          </a:solidFill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Arrow: Bent-Up 28">
            <a:extLst>
              <a:ext uri="{FF2B5EF4-FFF2-40B4-BE49-F238E27FC236}">
                <a16:creationId xmlns:a16="http://schemas.microsoft.com/office/drawing/2014/main" id="{D7523EBB-4A9D-FA67-F989-45620383BD69}"/>
              </a:ext>
            </a:extLst>
          </p:cNvPr>
          <p:cNvSpPr/>
          <p:nvPr/>
        </p:nvSpPr>
        <p:spPr>
          <a:xfrm rot="10800000" flipH="1">
            <a:off x="8917734" y="3672124"/>
            <a:ext cx="1024955" cy="453594"/>
          </a:xfrm>
          <a:prstGeom prst="bentUpArrow">
            <a:avLst>
              <a:gd name="adj1" fmla="val 32253"/>
              <a:gd name="adj2" fmla="val 40273"/>
              <a:gd name="adj3" fmla="val 34907"/>
            </a:avLst>
          </a:prstGeom>
          <a:solidFill>
            <a:schemeClr val="tx1">
              <a:lumMod val="95000"/>
              <a:lumOff val="5000"/>
            </a:schemeClr>
          </a:solidFill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994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8F545-B873-5AE2-ED77-2C41A8649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3ECD518-5485-FB80-0443-74CE6293C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26640CC6-DBBB-F4DE-6554-F44BD8D3B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40829B41-BB85-DE19-CC38-3D5D54F63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505" y="1179965"/>
            <a:ext cx="7454688" cy="1354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IN" b="1" u="sng" dirty="0">
                <a:solidFill>
                  <a:srgbClr val="002060"/>
                </a:solidFill>
              </a:rPr>
              <a:t>Government &amp; Policy Sources:</a:t>
            </a:r>
          </a:p>
          <a:p>
            <a:pPr marL="342900" indent="-342900">
              <a:buFont typeface="+mj-lt"/>
              <a:buAutoNum type="arabicParenR"/>
            </a:pPr>
            <a:r>
              <a:rPr lang="en-US" sz="1600" dirty="0"/>
              <a:t>Direct Benefit Transfer (DBT) Mission, Govt. of India: </a:t>
            </a:r>
            <a:r>
              <a:rPr lang="en-US" sz="1600" dirty="0">
                <a:hlinkClick r:id="rId3"/>
              </a:rPr>
              <a:t>https://dbtbharat.gov.in/</a:t>
            </a:r>
            <a:endParaRPr lang="en-US" sz="1600" dirty="0"/>
          </a:p>
          <a:p>
            <a:pPr marL="342900" indent="-342900">
              <a:buFont typeface="+mj-lt"/>
              <a:buAutoNum type="arabicParenR"/>
            </a:pPr>
            <a:r>
              <a:rPr lang="en-US" sz="1600" dirty="0"/>
              <a:t>Public Financial Management System (PFMS): </a:t>
            </a:r>
            <a:r>
              <a:rPr lang="en-US" sz="1600" u="sng" dirty="0">
                <a:hlinkClick r:id="rId4"/>
              </a:rPr>
              <a:t>https://pfms.nic.in/</a:t>
            </a:r>
            <a:endParaRPr lang="en-US" sz="1600" u="sng" dirty="0"/>
          </a:p>
          <a:p>
            <a:pPr marL="342900" indent="-342900">
              <a:buFont typeface="+mj-lt"/>
              <a:buAutoNum type="arabicParenR"/>
            </a:pPr>
            <a:r>
              <a:rPr lang="en-US" sz="1600" dirty="0"/>
              <a:t>National Payments Corporation of India (NPCI): </a:t>
            </a:r>
            <a:r>
              <a:rPr lang="en-US" sz="1600" u="sng" dirty="0">
                <a:hlinkClick r:id="rId5"/>
              </a:rPr>
              <a:t>https://www.npci.org.in/</a:t>
            </a:r>
            <a:endParaRPr lang="en-US" sz="1600" u="sng" dirty="0"/>
          </a:p>
          <a:p>
            <a:pPr marL="342900" indent="-342900">
              <a:buFont typeface="+mj-lt"/>
              <a:buAutoNum type="arabicParenR"/>
            </a:pPr>
            <a:r>
              <a:rPr lang="en-IN" sz="1600" dirty="0"/>
              <a:t>Aadhaar e-KYC &amp; Authentication API – UIDAI: </a:t>
            </a:r>
            <a:r>
              <a:rPr lang="en-IN" sz="1600" u="sng" dirty="0">
                <a:hlinkClick r:id="rId6"/>
              </a:rPr>
              <a:t>https://uidai.gov.in/</a:t>
            </a:r>
            <a:endParaRPr lang="en-IN" sz="1600" u="sn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BC3CF-BCF6-4948-A922-62BBE4135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EA78010-14B7-F6B9-7BE5-D86BB4893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02D6B2BA-DE3F-956A-0BB7-8783559E708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THE SIX 2025</a:t>
            </a:r>
            <a:endParaRPr lang="en-IN" dirty="0"/>
          </a:p>
        </p:txBody>
      </p:sp>
      <p:pic>
        <p:nvPicPr>
          <p:cNvPr id="11" name="Picture 2" descr="https://www.sih.gov.in/img1/SIH-Logo.png">
            <a:extLst>
              <a:ext uri="{FF2B5EF4-FFF2-40B4-BE49-F238E27FC236}">
                <a16:creationId xmlns:a16="http://schemas.microsoft.com/office/drawing/2014/main" id="{9B613383-E434-6E51-E13E-95AC29680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1904E45-56D9-D561-570A-C8400B6FE08D}"/>
              </a:ext>
            </a:extLst>
          </p:cNvPr>
          <p:cNvSpPr txBox="1"/>
          <p:nvPr/>
        </p:nvSpPr>
        <p:spPr>
          <a:xfrm>
            <a:off x="263505" y="2568761"/>
            <a:ext cx="929377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rgbClr val="002060"/>
                </a:solidFill>
              </a:rPr>
              <a:t>Technology &amp; Framework References:</a:t>
            </a:r>
          </a:p>
          <a:p>
            <a:r>
              <a:rPr lang="en-IN" sz="1600" dirty="0"/>
              <a:t>4)    Hyperledger Fabric Documentation (Blockchain Framework): </a:t>
            </a:r>
            <a:r>
              <a:rPr lang="en-IN" sz="1600" dirty="0">
                <a:hlinkClick r:id="rId8"/>
              </a:rPr>
              <a:t>https://hyperledger-fabric.readthedocs.io/</a:t>
            </a:r>
            <a:endParaRPr lang="en-IN" sz="1600" dirty="0"/>
          </a:p>
          <a:p>
            <a:r>
              <a:rPr lang="en-IN" sz="1600" dirty="0"/>
              <a:t>5)    </a:t>
            </a:r>
            <a:r>
              <a:rPr lang="en-IN" sz="1600" dirty="0" err="1"/>
              <a:t>FastAPI</a:t>
            </a:r>
            <a:r>
              <a:rPr lang="en-IN" sz="1600" dirty="0"/>
              <a:t> Framework (Backend Development): </a:t>
            </a:r>
            <a:r>
              <a:rPr lang="en-IN" sz="1600" dirty="0">
                <a:hlinkClick r:id="rId9"/>
              </a:rPr>
              <a:t>https://fastapi.tiangolo.com/</a:t>
            </a:r>
            <a:endParaRPr lang="en-IN" sz="1600" dirty="0"/>
          </a:p>
          <a:p>
            <a:r>
              <a:rPr lang="en-IN" sz="1600" dirty="0"/>
              <a:t>6)    TensorFlow OCR + NLP for Document Verification: </a:t>
            </a:r>
            <a:r>
              <a:rPr lang="en-IN" sz="1600" dirty="0">
                <a:hlinkClick r:id="rId10"/>
              </a:rPr>
              <a:t>https://www.tensorflow.org/</a:t>
            </a:r>
            <a:endParaRPr lang="en-IN" sz="1600" dirty="0"/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F954D3ED-27B2-B746-5F7C-C5A5383F2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505" y="3711337"/>
            <a:ext cx="11071902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b="1" u="sng" dirty="0">
                <a:solidFill>
                  <a:srgbClr val="002060"/>
                </a:solidFill>
              </a:rPr>
              <a:t>Research &amp; Case Studies:</a:t>
            </a:r>
          </a:p>
          <a:p>
            <a:r>
              <a:rPr lang="en-IN" sz="1600" dirty="0"/>
              <a:t>7)    World Bank Digital Public Infrastructure Report (2023): </a:t>
            </a:r>
            <a:r>
              <a:rPr lang="en-IN" sz="1600" dirty="0">
                <a:hlinkClick r:id="rId11"/>
              </a:rPr>
              <a:t>https://www.worldbank.org/en/topic/digitaldevelopment</a:t>
            </a:r>
            <a:endParaRPr lang="en-IN" sz="1600" dirty="0"/>
          </a:p>
          <a:p>
            <a:r>
              <a:rPr lang="en-IN" sz="1600" dirty="0"/>
              <a:t>8)    IEEE Research: “AI and Blockchain for Secure e-Governance” (2022): </a:t>
            </a:r>
            <a:r>
              <a:rPr lang="en-IN" sz="1600" dirty="0">
                <a:hlinkClick r:id="rId12"/>
              </a:rPr>
              <a:t>https://ieeexplore.ieee.org/document/9702481</a:t>
            </a:r>
            <a:endParaRPr lang="en-IN" sz="1600" dirty="0"/>
          </a:p>
          <a:p>
            <a:r>
              <a:rPr lang="en-IN" sz="1600" dirty="0"/>
              <a:t>9)    UNDP Digital Governance Report (2023): </a:t>
            </a:r>
            <a:r>
              <a:rPr lang="en-IN" sz="1600" dirty="0">
                <a:hlinkClick r:id="rId13"/>
              </a:rPr>
              <a:t>https://www.undp.org/publications/digital-governance-report</a:t>
            </a:r>
            <a:endParaRPr lang="en-IN" sz="1600" dirty="0"/>
          </a:p>
        </p:txBody>
      </p:sp>
      <p:sp>
        <p:nvSpPr>
          <p:cNvPr id="31" name="TextBox 8">
            <a:extLst>
              <a:ext uri="{FF2B5EF4-FFF2-40B4-BE49-F238E27FC236}">
                <a16:creationId xmlns:a16="http://schemas.microsoft.com/office/drawing/2014/main" id="{85DECD73-0C35-E651-5C10-FA5CBE50E7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505" y="4856630"/>
            <a:ext cx="11071902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b="1" u="sng" dirty="0">
                <a:solidFill>
                  <a:srgbClr val="002060"/>
                </a:solidFill>
              </a:rPr>
              <a:t>Academic / Supporting Work:</a:t>
            </a:r>
          </a:p>
          <a:p>
            <a:r>
              <a:rPr lang="en-US" sz="1600" i="1" dirty="0"/>
              <a:t>10)    “Automating Document Verification Using AI and OCR” – Springer (2021): </a:t>
            </a:r>
            <a:r>
              <a:rPr lang="en-US" sz="1600" u="sng" dirty="0">
                <a:hlinkClick r:id="rId14"/>
              </a:rPr>
              <a:t>https://link.springer.com/</a:t>
            </a:r>
            <a:endParaRPr lang="en-US" sz="1600" u="sng" dirty="0"/>
          </a:p>
          <a:p>
            <a:r>
              <a:rPr lang="en-IN" sz="1600" i="1" dirty="0"/>
              <a:t>11)    “Blockchain Applications in Public Administration” – Elsevier (2020): </a:t>
            </a:r>
            <a:r>
              <a:rPr lang="en-IN" sz="1600" dirty="0">
                <a:hlinkClick r:id="rId15"/>
              </a:rPr>
              <a:t>https://www.sciencedirect.com/</a:t>
            </a:r>
            <a:br>
              <a:rPr lang="en-IN" sz="1600" dirty="0"/>
            </a:br>
            <a:br>
              <a:rPr lang="en-US" sz="1600" dirty="0"/>
            </a:br>
            <a:endParaRPr lang="en-US" sz="1600" dirty="0"/>
          </a:p>
          <a:p>
            <a:pPr algn="just">
              <a:defRPr/>
            </a:pPr>
            <a:endParaRPr lang="en-IN" b="1" u="sng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7049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12018</TotalTime>
  <Words>1146</Words>
  <Application>Microsoft Office PowerPoint</Application>
  <PresentationFormat>Widescreen</PresentationFormat>
  <Paragraphs>142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suresh</dc:creator>
  <cp:keywords/>
  <dc:description/>
  <cp:lastModifiedBy>naveen p</cp:lastModifiedBy>
  <cp:revision>178</cp:revision>
  <dcterms:created xsi:type="dcterms:W3CDTF">2013-12-12T18:46:50Z</dcterms:created>
  <dcterms:modified xsi:type="dcterms:W3CDTF">2025-12-04T16:20:29Z</dcterms:modified>
  <cp:category/>
</cp:coreProperties>
</file>